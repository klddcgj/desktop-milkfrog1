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30 秒：</a:t>
            </a:r>
          </a:p>
          <a:p>
            <a:r>
              <a:t>· 大家好，我们做的是「桌面奶蛙」—— 一只住在你桌面上的电子室友。</a:t>
            </a:r>
          </a:p>
          <a:p>
            <a:r>
              <a:t>· 先给三个数字：单文件 13,199 行纯 Python，37 项右键交互，7 个小游戏。</a:t>
            </a:r>
          </a:p>
          <a:p>
            <a:r>
              <a:t>· 没有用任何 UI 框架，拷给别人就是一个 .py 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讲痛点要讲「活不过三天」：</a:t>
            </a:r>
          </a:p>
          <a:p>
            <a:r>
              <a:t>· 太吵：乱走乱跳，第一天好玩，第三天就想关掉。</a:t>
            </a:r>
          </a:p>
          <a:p>
            <a:r>
              <a:t>· 太空：动作就那几个，没有新内容可看。</a:t>
            </a:r>
          </a:p>
          <a:p>
            <a:r>
              <a:t>· 太贵：好看的要付费订阅。</a:t>
            </a:r>
          </a:p>
          <a:p>
            <a:r>
              <a:t>· 所以我们把「骚扰」当 bug 来治，把「不打扰的陪伴」当核心指标。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产品定义用一句话讲清：</a:t>
            </a:r>
          </a:p>
          <a:p>
            <a:r>
              <a:t>· 它不是游戏，是桌面上的第二个自己。</a:t>
            </a:r>
          </a:p>
          <a:p>
            <a:r>
              <a:t>· 三类价值：情绪（可以摸的活物）、实用（时钟/天气/待办）、内容（养成/探险/游戏/AI）。</a:t>
            </a:r>
          </a:p>
          <a:p>
            <a:r>
              <a:t>· 对比表这行可以点一句：别人 5~8 项菜单，我们 37 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架构讲「分层」而不是「文件大」：</a:t>
            </a:r>
          </a:p>
          <a:p>
            <a:r>
              <a:t>· 六层：素材 → 窗口 → 呈现 → 状态机 → 交互 → 内容。</a:t>
            </a:r>
          </a:p>
          <a:p>
            <a:r>
              <a:t>· 为什么单文件：双击就跑、拷一个文件给别人、不用配环境。</a:t>
            </a:r>
          </a:p>
          <a:p>
            <a:r>
              <a:t>· 代价是自己管分层，所以用章节注释把 13k 行切成 20 多段。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技术亮点 1，评委最爱问实现细节：</a:t>
            </a:r>
          </a:p>
          <a:p>
            <a:r>
              <a:t>· tkinter 没有逐像素透明，我们用颜色键 -transparentcolor。</a:t>
            </a:r>
          </a:p>
          <a:p>
            <a:r>
              <a:t>· 关键点：色键像素不只透明，还能「点透」—— 鼠标直接点到下面的代码。</a:t>
            </a:r>
          </a:p>
          <a:p>
            <a:r>
              <a:t>· 坑：色键要和素材撞色检查；所有元素必须画在 Canvas 上，包 Frame 就露色块。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技术亮点 2：</a:t>
            </a:r>
          </a:p>
          <a:p>
            <a:r>
              <a:t>· 15 张素材，每张过管线：抠背景（四角主色色差）、按脚底线对齐、磁盘缓存。</a:t>
            </a:r>
          </a:p>
          <a:p>
            <a:r>
              <a:t>· 最得意的点：只有 1 张静态图，用正弦缩放程序化生成 6 帧呼吸动画，零额外美术资源。</a:t>
            </a:r>
          </a:p>
          <a:p>
            <a:r>
              <a:t>· 现场可以让大家盯着看呼吸 —— 不放大几乎看不出来，但它是「活的」。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这页最容易被记住：</a:t>
            </a:r>
          </a:p>
          <a:p>
            <a:r>
              <a:t>· 五个数值：饥饿 / 心情 / 精力 / 亲密度 / 无聊。</a:t>
            </a:r>
          </a:p>
          <a:p>
            <a:r>
              <a:t>· 待机决策间隔从 4~9 秒调到 14~30 秒，散步权重 4→1，打盹权重 1→4。</a:t>
            </a:r>
          </a:p>
          <a:p>
            <a:r>
              <a:t>· 一句话：陪伴感来自「它还在」，不是「它在闹」。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玩法全景，用「一天」串起来：</a:t>
            </a:r>
          </a:p>
          <a:p>
            <a:r>
              <a:t>· 早上播报系统状态；中午摸鱼玩一局；傍晚出去探险；深夜写日记。</a:t>
            </a:r>
          </a:p>
          <a:p>
            <a:r>
              <a:t>· 再补一年维度：四季、节日、三个成长形态、5 章剧情。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养成讲「羁绊」而不是数值：</a:t>
            </a:r>
          </a:p>
          <a:p>
            <a:r>
              <a:t>· 喂食只能用背包里的东西 —— 想吃就得先赚金币，形成闭环。</a:t>
            </a:r>
          </a:p>
          <a:p>
            <a:r>
              <a:t>· 送礼涨亲密度，送错它会「哼」一声（小细节，现场可以演）。</a:t>
            </a:r>
          </a:p>
          <a:p>
            <a:r>
              <a:t>· 扭蛋只出装扮/皮肤，不能花钱买；抽到重复给 30 金币兜底。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探险 + 小游戏：</a:t>
            </a:r>
          </a:p>
          <a:p>
            <a:r>
              <a:t>· 探险 4 地点 × 4 时长，最短 30 秒、最长过夜，挂机也有回报。</a:t>
            </a:r>
          </a:p>
          <a:p>
            <a:r>
              <a:t>· 7 个游戏：猜拳/接金币/翻牌/打地鼠/俄罗斯方块/扫雷/打砖块。</a:t>
            </a:r>
          </a:p>
          <a:p>
            <a:r>
              <a:t>· 每个游戏 3 次/天 —— 这是宠物，不是游戏机。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页要讲「记忆」而不是「接了大模型」：</a:t>
            </a:r>
          </a:p>
          <a:p>
            <a:r>
              <a:t>· 接的是 OpenAI 兼容协议，千问 / DeepSeek / Kimi / 本地 Ollama 都能换。</a:t>
            </a:r>
          </a:p>
          <a:p>
            <a:r>
              <a:t>· 记忆库三步：抽取 → 持久化 → 注入 system prompt。</a:t>
            </a:r>
          </a:p>
          <a:p>
            <a:r>
              <a:t>· 现场演示：问「我叫什么」「我生日是哪天」。</a:t>
            </a:r>
          </a:p>
          <a:p>
            <a:r>
              <a:t>· 没 Key 也不崩，自动退回本地规则对话。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数字页停留 5 秒，让评委看清。</a:t>
            </a:r>
          </a:p>
          <a:p>
            <a:r>
              <a:t>· 重点强调：全部手写，没有素材包、没有游戏引擎、没有现成 UI 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工程质量是加分项：</a:t>
            </a:r>
          </a:p>
          <a:p>
            <a:r>
              <a:t>· 黑匣子日志：崩溃可追溯，崩溃前的一举一动都有记录。</a:t>
            </a:r>
          </a:p>
          <a:p>
            <a:r>
              <a:t>· 18 阶段自检脚本：改完先跑它，全绿才提交。</a:t>
            </a:r>
          </a:p>
          <a:p>
            <a:r>
              <a:t>· 原子存档：先写 .tmp 再 os.replace，断电不会写出半个 json。</a:t>
            </a:r>
          </a:p>
          <a:p>
            <a:r>
              <a:t>· 行为回归：概率类数值用 1000 次抽样验证。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落地页讲真实踩坑，比讲功能更打动人：</a:t>
            </a:r>
          </a:p>
          <a:p>
            <a:r>
              <a:t>· 目标机没网 → 把 Pillow wheel 打进包，--no-index 离线安装。</a:t>
            </a:r>
          </a:p>
          <a:p>
            <a:r>
              <a:t>· 目标机装了多个 Python → 安装器扫描全部，挑能用的那个启动。</a:t>
            </a:r>
          </a:p>
          <a:p>
            <a:r>
              <a:t>· 用户把 bat 改名 → 逻辑收进一个 py，bat 只做转发。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 30 秒：</a:t>
            </a:r>
          </a:p>
          <a:p>
            <a:r>
              <a:t>· 留 5 分钟现场演示，按 01~04 走。</a:t>
            </a:r>
          </a:p>
          <a:p>
            <a:r>
              <a:t>· 如果演示卡住，回到这页讲「下一步」：语音陪伴、多宠物互访、云同步、插件协议。</a:t>
            </a:r>
          </a:p>
          <a:p>
            <a:r>
              <a:t>· 最后一句：谢谢，这只蛙还活着，欢迎来戳它一下。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645920"/>
            <a:ext cx="4937760" cy="4937760"/>
          </a:xfrm>
          <a:prstGeom prst="ellipse">
            <a:avLst/>
          </a:prstGeom>
          <a:solidFill>
            <a:srgbClr val="1C4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3291840"/>
            <a:ext cx="5669280" cy="5669280"/>
          </a:xfrm>
          <a:prstGeom prst="ellipse">
            <a:avLst/>
          </a:prstGeom>
          <a:solidFill>
            <a:srgbClr val="173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7CB342"/>
                </a:solidFill>
                <a:latin typeface="微软雅黑"/>
                <a:ea typeface="微软雅黑"/>
              </a:rPr>
              <a:t>HACKATHON 2026　·　桌面应用赛道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7680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000" b="1">
                <a:solidFill>
                  <a:srgbClr val="FFFFFF"/>
                </a:solidFill>
                <a:latin typeface="微软雅黑"/>
                <a:ea typeface="微软雅黑"/>
              </a:rPr>
              <a:t>桌面奶蛙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42032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D8E8DA"/>
                </a:solidFill>
                <a:latin typeface="微软雅黑"/>
                <a:ea typeface="微软雅黑"/>
              </a:rPr>
              <a:t>一只住在你桌面上的电子室友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27248"/>
            <a:ext cx="1143000" cy="54864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1">
                <a:solidFill>
                  <a:srgbClr val="BCD9BE"/>
                </a:solidFill>
                <a:latin typeface="微软雅黑"/>
                <a:ea typeface="微软雅黑"/>
              </a:rPr>
              <a:t>纯 Python 单文件　</a:t>
            </a:r>
            <a:r>
              <a:rPr sz="1350" b="0">
                <a:solidFill>
                  <a:srgbClr val="A9C6AC"/>
                </a:solidFill>
                <a:latin typeface="微软雅黑"/>
                <a:ea typeface="微软雅黑"/>
              </a:rPr>
              <a:t>13,199 行 / 596 KB / 零 UI 框架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1">
                <a:solidFill>
                  <a:srgbClr val="BCD9BE"/>
                </a:solidFill>
                <a:latin typeface="微软雅黑"/>
                <a:ea typeface="微软雅黑"/>
              </a:rPr>
              <a:t>37 项右键交互　</a:t>
            </a:r>
            <a:r>
              <a:rPr sz="1350" b="0">
                <a:solidFill>
                  <a:srgbClr val="A9C6AC"/>
                </a:solidFill>
                <a:latin typeface="微软雅黑"/>
                <a:ea typeface="微软雅黑"/>
              </a:rPr>
              <a:t>7 个小游戏 / 16 个成就 / 5 章剧情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5216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8FB294"/>
                </a:solidFill>
                <a:latin typeface="微软雅黑"/>
                <a:ea typeface="微软雅黑"/>
              </a:rPr>
              <a:t>它不弹窗、不抢焦、不催你 —— 就在角落里，安安静静陪着你。</a:t>
            </a:r>
          </a:p>
        </p:txBody>
      </p:sp>
      <p:pic>
        <p:nvPicPr>
          <p:cNvPr id="11" name="Picture 10" descr="pet_idle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89048"/>
            <a:ext cx="3017520" cy="30627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为什么做这个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B20"/>
                </a:solidFill>
                <a:latin typeface="微软雅黑"/>
                <a:ea typeface="微软雅黑"/>
              </a:rPr>
              <a:t>桌面宠物，为什么大多活不过三天？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822960" cy="502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383280" cy="2057400"/>
          </a:xfrm>
          <a:prstGeom prst="roundRect">
            <a:avLst>
              <a:gd name="adj" fmla="val 6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83280" cy="822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C62828"/>
                </a:solidFill>
                <a:latin typeface="微软雅黑"/>
                <a:ea typeface="微软雅黑"/>
              </a:rPr>
              <a:t>① 太吵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15184"/>
            <a:ext cx="28529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45448"/>
                </a:solidFill>
                <a:latin typeface="微软雅黑"/>
                <a:ea typeface="微软雅黑"/>
              </a:rPr>
              <a:t>整屏乱走、弹窗刷存在感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445448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445448"/>
                </a:solidFill>
                <a:latin typeface="微软雅黑"/>
                <a:ea typeface="微软雅黑"/>
              </a:rPr>
              <a:t>新鲜感一过就想关掉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383280" cy="2057400"/>
          </a:xfrm>
          <a:prstGeom prst="roundRect">
            <a:avLst>
              <a:gd name="adj" fmla="val 6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383280" cy="82296"/>
          </a:xfrm>
          <a:prstGeom prst="roundRect">
            <a:avLst>
              <a:gd name="adj" fmla="val 50000"/>
            </a:avLst>
          </a:prstGeom>
          <a:solidFill>
            <a:srgbClr val="D9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2140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96C00"/>
                </a:solidFill>
                <a:latin typeface="微软雅黑"/>
                <a:ea typeface="微软雅黑"/>
              </a:rPr>
              <a:t>② 太空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15184"/>
            <a:ext cx="28529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45448"/>
                </a:solidFill>
                <a:latin typeface="微软雅黑"/>
                <a:ea typeface="微软雅黑"/>
              </a:rPr>
              <a:t>翻来覆去就三五个动作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445448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445448"/>
                </a:solidFill>
                <a:latin typeface="微软雅黑"/>
                <a:ea typeface="微软雅黑"/>
              </a:rPr>
              <a:t>第二天没有新东西可看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74519"/>
            <a:ext cx="3383280" cy="2057400"/>
          </a:xfrm>
          <a:prstGeom prst="roundRect">
            <a:avLst>
              <a:gd name="adj" fmla="val 6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001000" y="1874519"/>
            <a:ext cx="3383280" cy="82296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12140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565C0"/>
                </a:solidFill>
                <a:latin typeface="微软雅黑"/>
                <a:ea typeface="微软雅黑"/>
              </a:rPr>
              <a:t>③ 太贵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15184"/>
            <a:ext cx="28529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45448"/>
                </a:solidFill>
                <a:latin typeface="微软雅黑"/>
                <a:ea typeface="微软雅黑"/>
              </a:rPr>
              <a:t>好看的要买素材 / 订阅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445448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445448"/>
                </a:solidFill>
                <a:latin typeface="微软雅黑"/>
                <a:ea typeface="微软雅黑"/>
              </a:rPr>
              <a:t>自己养又没内容撑住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87952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8F2E8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05840" y="4370832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1">
                <a:solidFill>
                  <a:srgbClr val="1B5E20"/>
                </a:solidFill>
                <a:latin typeface="微软雅黑"/>
                <a:ea typeface="微软雅黑"/>
              </a:rPr>
              <a:t>所以我们的判断是：</a:t>
            </a:r>
            <a:r>
              <a:rPr sz="1450" b="0">
                <a:solidFill>
                  <a:srgbClr val="1B2B20"/>
                </a:solidFill>
                <a:latin typeface="微软雅黑"/>
                <a:ea typeface="微软雅黑"/>
              </a:rPr>
              <a:t>一只桌面宠物能不能活下来，不取决于它多会卖萌，而取决于它能不能长期提供「不打扰的陪伴」。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49240"/>
            <a:ext cx="33832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14983" y="546811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2E7D32"/>
                </a:solidFill>
                <a:latin typeface="微软雅黑"/>
                <a:ea typeface="微软雅黑"/>
              </a:rPr>
              <a:t>不打扰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" y="579729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A6E"/>
                </a:solidFill>
                <a:latin typeface="微软雅黑"/>
                <a:ea typeface="微软雅黑"/>
              </a:rPr>
              <a:t>学会沉默，是宠物的第一课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5349240"/>
            <a:ext cx="33832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26864" y="546811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2E7D32"/>
                </a:solidFill>
                <a:latin typeface="微软雅黑"/>
                <a:ea typeface="微软雅黑"/>
              </a:rPr>
              <a:t>有内容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579729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A6E"/>
                </a:solidFill>
                <a:latin typeface="微软雅黑"/>
                <a:ea typeface="微软雅黑"/>
              </a:rPr>
              <a:t>每天都能发现一点新东西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5349240"/>
            <a:ext cx="33832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38744" y="546811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2E7D32"/>
                </a:solidFill>
                <a:latin typeface="微软雅黑"/>
                <a:ea typeface="微软雅黑"/>
              </a:rPr>
              <a:t>真桌面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579729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A6E"/>
                </a:solidFill>
                <a:latin typeface="微软雅黑"/>
                <a:ea typeface="微软雅黑"/>
              </a:rPr>
              <a:t>住进你的桌面，而不是一个窗口里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6B7A6E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产品定义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B20"/>
                </a:solidFill>
                <a:latin typeface="微软雅黑"/>
                <a:ea typeface="微软雅黑"/>
              </a:rPr>
              <a:t>它不是游戏，是「桌面上的第二个自己」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822960" cy="502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4128" y="199339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6B7A6E"/>
                </a:solidFill>
                <a:latin typeface="微软雅黑"/>
                <a:ea typeface="微软雅黑"/>
              </a:rPr>
              <a:t>目标用户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31720"/>
            <a:ext cx="4572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B2B20"/>
                </a:solidFill>
                <a:latin typeface="微软雅黑"/>
                <a:ea typeface="微软雅黑"/>
              </a:rPr>
              <a:t>写代码 / 写稿 / 上网课的人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B2B20"/>
                </a:solidFill>
                <a:latin typeface="微软雅黑"/>
                <a:ea typeface="微软雅黑"/>
              </a:rPr>
              <a:t>一天 8 小时面对屏幕，需要一点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B2B20"/>
                </a:solidFill>
                <a:latin typeface="微软雅黑"/>
                <a:ea typeface="微软雅黑"/>
              </a:rPr>
              <a:t>「有人在场」的错觉，但不要打扰。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10512"/>
            <a:ext cx="5074920" cy="1920240"/>
          </a:xfrm>
          <a:prstGeom prst="roundRect">
            <a:avLst>
              <a:gd name="adj" fmla="val 6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6B7A6E"/>
                </a:solidFill>
                <a:latin typeface="微软雅黑"/>
                <a:ea typeface="微软雅黑"/>
              </a:rPr>
              <a:t>它提供的价值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331720"/>
            <a:ext cx="4526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B2B20"/>
                </a:solidFill>
                <a:latin typeface="微软雅黑"/>
                <a:ea typeface="微软雅黑"/>
              </a:rPr>
              <a:t>情绪价值：随时可以摸一下的活物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B2B20"/>
                </a:solidFill>
                <a:latin typeface="微软雅黑"/>
                <a:ea typeface="微软雅黑"/>
              </a:rPr>
              <a:t>使用价值：时钟 / 天气 / 网速 / 待办 / 提醒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B2B20"/>
                </a:solidFill>
                <a:latin typeface="微软雅黑"/>
                <a:ea typeface="微软雅黑"/>
              </a:rPr>
              <a:t>内容价值：养成、探险、小游戏、AI 聊天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020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B5E20"/>
                </a:solidFill>
                <a:latin typeface="微软雅黑"/>
                <a:ea typeface="微软雅黑"/>
              </a:rPr>
              <a:t>和市面上的桌面宠物比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52544"/>
            <a:ext cx="1060704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4480559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B2B20"/>
                </a:solidFill>
                <a:latin typeface="微软雅黑"/>
                <a:ea typeface="微软雅黑"/>
              </a:rPr>
              <a:t>交互深度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480559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A6E"/>
                </a:solidFill>
                <a:latin typeface="微软雅黑"/>
                <a:ea typeface="微软雅黑"/>
              </a:rPr>
              <a:t>菜单 5~8 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480559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B5E20"/>
                </a:solidFill>
                <a:latin typeface="微软雅黑"/>
                <a:ea typeface="微软雅黑"/>
              </a:rPr>
              <a:t>37 项，含嵌套面板与独立窗口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28031"/>
            <a:ext cx="10607040" cy="475488"/>
          </a:xfrm>
          <a:prstGeom prst="roundRect">
            <a:avLst>
              <a:gd name="adj" fmla="val 5000"/>
            </a:avLst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0120" y="4956047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B2B20"/>
                </a:solidFill>
                <a:latin typeface="微软雅黑"/>
                <a:ea typeface="微软雅黑"/>
              </a:rPr>
              <a:t>内容量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956047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A6E"/>
                </a:solidFill>
                <a:latin typeface="微软雅黑"/>
                <a:ea typeface="微软雅黑"/>
              </a:rPr>
              <a:t>几个动作循环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956047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B5E20"/>
                </a:solidFill>
                <a:latin typeface="微软雅黑"/>
                <a:ea typeface="微软雅黑"/>
              </a:rPr>
              <a:t>5 大系统 / 7 游戏 / 16 成就 / 5 章剧情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303519"/>
            <a:ext cx="1060704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0120" y="5431535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B2B20"/>
                </a:solidFill>
                <a:latin typeface="微软雅黑"/>
                <a:ea typeface="微软雅黑"/>
              </a:rPr>
              <a:t>AI 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431535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A6E"/>
                </a:solidFill>
                <a:latin typeface="微软雅黑"/>
                <a:ea typeface="微软雅黑"/>
              </a:rPr>
              <a:t>多数没有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5431535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B5E20"/>
                </a:solidFill>
                <a:latin typeface="微软雅黑"/>
                <a:ea typeface="微软雅黑"/>
              </a:rPr>
              <a:t>接大模型 + 本地记忆库（记得你生日）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779007"/>
            <a:ext cx="10607040" cy="475488"/>
          </a:xfrm>
          <a:prstGeom prst="roundRect">
            <a:avLst>
              <a:gd name="adj" fmla="val 5000"/>
            </a:avLst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0120" y="590702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B2B20"/>
                </a:solidFill>
                <a:latin typeface="微软雅黑"/>
                <a:ea typeface="微软雅黑"/>
              </a:rPr>
              <a:t>部署方式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907023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A6E"/>
                </a:solidFill>
                <a:latin typeface="微软雅黑"/>
                <a:ea typeface="微软雅黑"/>
              </a:rPr>
              <a:t>需要装客户端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5907023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B5E20"/>
                </a:solidFill>
                <a:latin typeface="微软雅黑"/>
                <a:ea typeface="微软雅黑"/>
              </a:rPr>
              <a:t>单个 .py，双击即跑，可离线装依赖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6B7A6E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怎么做的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B20"/>
                </a:solidFill>
                <a:latin typeface="微软雅黑"/>
                <a:ea typeface="微软雅黑"/>
              </a:rPr>
              <a:t>架构：一个文件，六层职责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822960" cy="502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7498079" cy="603504"/>
          </a:xfrm>
          <a:prstGeom prst="roundRect">
            <a:avLst>
              <a:gd name="adj" fmla="val 1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1938528"/>
            <a:ext cx="1600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内容系统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56816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DDEEDC"/>
                </a:solidFill>
                <a:latin typeface="微软雅黑"/>
                <a:ea typeface="微软雅黑"/>
              </a:rPr>
              <a:t>养成 / 探险 / 7 游戏 / 图鉴 / 剧情 / 天赋 / 扭蛋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96312"/>
            <a:ext cx="7498079" cy="603504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1600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交互层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70048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DDEEDC"/>
                </a:solidFill>
                <a:latin typeface="微软雅黑"/>
                <a:ea typeface="微软雅黑"/>
              </a:rPr>
              <a:t>37 项菜单 · 独立 Toplevel · 拖拽 / 悬停 / 长按 / 滚轮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09544"/>
            <a:ext cx="7498079" cy="603504"/>
          </a:xfrm>
          <a:prstGeom prst="roundRect">
            <a:avLst>
              <a:gd name="adj" fmla="val 10000"/>
            </a:avLst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3364991"/>
            <a:ext cx="1600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状态机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383279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DDEEDC"/>
                </a:solidFill>
                <a:latin typeface="微软雅黑"/>
                <a:ea typeface="微软雅黑"/>
              </a:rPr>
              <a:t>饥饿 心情 精力 亲密度 无聊 → 行为决策（40ms tick）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7498079" cy="603504"/>
          </a:xfrm>
          <a:prstGeom prst="roundRect">
            <a:avLst>
              <a:gd name="adj" fmla="val 10000"/>
            </a:avLst>
          </a:prstGeom>
          <a:solidFill>
            <a:srgbClr val="3A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5840" y="4078224"/>
            <a:ext cx="1600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呈现层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096512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DDEEDC"/>
                </a:solidFill>
                <a:latin typeface="微软雅黑"/>
                <a:ea typeface="微软雅黑"/>
              </a:rPr>
              <a:t>SpriteRenderer：缩放 / 翻转 / 倾斜 / 灰化 / 躺姿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36008"/>
            <a:ext cx="7498079" cy="603504"/>
          </a:xfrm>
          <a:prstGeom prst="roundRect">
            <a:avLst>
              <a:gd name="adj" fmla="val 10000"/>
            </a:avLst>
          </a:prstGeom>
          <a:solidFill>
            <a:srgbClr val="2C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05840" y="4791456"/>
            <a:ext cx="1600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窗口层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809744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DDEEDC"/>
                </a:solidFill>
                <a:latin typeface="微软雅黑"/>
                <a:ea typeface="微软雅黑"/>
              </a:rPr>
              <a:t>无边框 + 置顶 + 颜色键透明 + 点击穿透 + 双屏适配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349240"/>
            <a:ext cx="7498079" cy="603504"/>
          </a:xfrm>
          <a:prstGeom prst="roundRect">
            <a:avLst>
              <a:gd name="adj" fmla="val 10000"/>
            </a:avLst>
          </a:prstGeom>
          <a:solidFill>
            <a:srgbClr val="223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5840" y="5504688"/>
            <a:ext cx="1600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素材层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522976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DDEEDC"/>
                </a:solidFill>
                <a:latin typeface="微软雅黑"/>
                <a:ea typeface="微软雅黑"/>
              </a:rPr>
              <a:t>15 张 webp/gif → 抠背景 → 统一尺寸 → 磁盘缓存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1783080"/>
            <a:ext cx="2880360" cy="4462272"/>
          </a:xfrm>
          <a:prstGeom prst="roundRect">
            <a:avLst>
              <a:gd name="adj" fmla="val 6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778240" y="19659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5E20"/>
                </a:solidFill>
                <a:latin typeface="微软雅黑"/>
                <a:ea typeface="微软雅黑"/>
              </a:rPr>
              <a:t>为什么坚持单文件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331720"/>
            <a:ext cx="2450592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· 双击就能跑，不用配环境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· 拷给别人 = 拷一个文件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· 没有包管理 / 版本地狱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· 改起来只在一个文件里找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· 答辩时能现场翻源码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代价是要自己管分层，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所以用「# ==== 章节 ====」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把 13k 行切成 20 多段。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6B7A6E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核心技术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B20"/>
                </a:solidFill>
                <a:latin typeface="微软雅黑"/>
                <a:ea typeface="微软雅黑"/>
              </a:rPr>
              <a:t>怎么让一只蛙「浮」在桌面上？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822960" cy="502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445448"/>
                </a:solidFill>
                <a:latin typeface="微软雅黑"/>
                <a:ea typeface="微软雅黑"/>
              </a:rPr>
              <a:t>tkinter 没有逐像素透明。我们的做法：给窗口指定一个「绝不出现在素材里」的</a:t>
            </a:r>
          </a:p>
          <a:p>
            <a:pPr algn="l">
              <a:lnSpc>
                <a:spcPct val="155000"/>
              </a:lnSpc>
            </a:pPr>
            <a:r>
              <a:rPr sz="1250" b="0">
                <a:solidFill>
                  <a:srgbClr val="445448"/>
                </a:solidFill>
                <a:latin typeface="微软雅黑"/>
                <a:ea typeface="微软雅黑"/>
              </a:rPr>
              <a:t>颜色当色键，系统会把这种颜色当透明，而且该像素区域连鼠标都能一并穿透。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61488"/>
            <a:ext cx="5303520" cy="1572768"/>
          </a:xfrm>
          <a:prstGeom prst="roundRect">
            <a:avLst>
              <a:gd name="adj" fmla="val 4000"/>
            </a:avLst>
          </a:prstGeom>
          <a:solidFill>
            <a:srgbClr val="101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2898648"/>
            <a:ext cx="4937759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B9E0A8"/>
                </a:solidFill>
                <a:latin typeface="Consolas"/>
                <a:ea typeface="Consolas"/>
              </a:rPr>
              <a:t>KEY_COLOR = "#ff00fe"   # 素材里绝不会出现的怪色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B9E0A8"/>
                </a:solidFill>
                <a:latin typeface="Consolas"/>
                <a:ea typeface="Consolas"/>
              </a:rPr>
              <a:t>root.wm_attributes("-transparentcolor", KEY_COLOR)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B9E0A8"/>
                </a:solidFill>
                <a:latin typeface="Consolas"/>
                <a:ea typeface="Consolas"/>
              </a:rPr>
              <a:t>canvas.configure(bg=KEY_COLOR)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B9E0A8"/>
                </a:solidFill>
                <a:latin typeface="Consolas"/>
                <a:ea typeface="Consolas"/>
              </a:rPr>
              <a:t># 色键像素 → 透明 + 可点透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B9E0A8"/>
                </a:solidFill>
                <a:latin typeface="Consolas"/>
                <a:ea typeface="Consolas"/>
              </a:rPr>
              <a:t># 蛙身像素 → 正常响应点击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72000"/>
            <a:ext cx="5303520" cy="1463040"/>
          </a:xfrm>
          <a:prstGeom prst="roundRect">
            <a:avLst>
              <a:gd name="adj" fmla="val 6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87552" y="47000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96C00"/>
                </a:solidFill>
                <a:latin typeface="微软雅黑"/>
                <a:ea typeface="微软雅黑"/>
              </a:rPr>
              <a:t>踩过的坑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992624"/>
            <a:ext cx="495604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· 色键色若和素材撞色 → 蛙身上出现「洞」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· 所有元素必须画在 Canvas 上，用 Frame 包一层就露出色块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· 置顶要定期重设，否则会被全屏应用压下去</a:t>
            </a:r>
          </a:p>
        </p:txBody>
      </p:sp>
      <p:pic>
        <p:nvPicPr>
          <p:cNvPr id="12" name="Picture 11" descr="ui_si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664208"/>
            <a:ext cx="2743199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5080" y="48006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A6E"/>
                </a:solidFill>
                <a:latin typeface="微软雅黑"/>
                <a:ea typeface="微软雅黑"/>
              </a:rPr>
              <a:t>▸ 蛙身可点、四周可透：鼠标能直接点到下面的代码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138928"/>
            <a:ext cx="5029200" cy="896112"/>
          </a:xfrm>
          <a:prstGeom prst="roundRect">
            <a:avLst>
              <a:gd name="adj" fmla="val 10000"/>
            </a:avLst>
          </a:prstGeom>
          <a:solidFill>
            <a:srgbClr val="E8F2E8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37960" y="526694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1">
                <a:solidFill>
                  <a:srgbClr val="1B5E20"/>
                </a:solidFill>
                <a:latin typeface="微软雅黑"/>
                <a:ea typeface="微软雅黑"/>
              </a:rPr>
              <a:t>结果：</a:t>
            </a:r>
            <a:r>
              <a:rPr sz="1150" b="0">
                <a:solidFill>
                  <a:srgbClr val="1B2B20"/>
                </a:solidFill>
                <a:latin typeface="微软雅黑"/>
                <a:ea typeface="微软雅黑"/>
              </a:rPr>
              <a:t>桌宠不再是「一个窗口」，而是桌面上的一张便利贴 —— 它下面的一切照常工作。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6B7A6E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核心技术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B20"/>
                </a:solidFill>
                <a:latin typeface="微软雅黑"/>
                <a:ea typeface="微软雅黑"/>
              </a:rPr>
              <a:t>15 张素材，撑起一整套表情系统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822960" cy="502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5669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45448"/>
                </a:solidFill>
                <a:latin typeface="微软雅黑"/>
                <a:ea typeface="微软雅黑"/>
              </a:rPr>
              <a:t>每张素材上线前都要过一遍管线：识别背景 → 抠掉 → 按「脚底线」对齐 → 缓存到磁盘。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1325880" cy="129844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05256" y="24871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B5E20"/>
                </a:solidFill>
                <a:latin typeface="微软雅黑"/>
                <a:ea typeface="微软雅黑"/>
              </a:rPr>
              <a:t>① 读入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816352"/>
            <a:ext cx="1097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45448"/>
                </a:solidFill>
                <a:latin typeface="微软雅黑"/>
                <a:ea typeface="微软雅黑"/>
              </a:rPr>
              <a:t>webp / gif 首帧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445448"/>
                </a:solidFill>
                <a:latin typeface="微软雅黑"/>
                <a:ea typeface="微软雅黑"/>
              </a:rPr>
              <a:t>（gif 拆多帧）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8568" y="2377440"/>
            <a:ext cx="1325880" cy="129844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386584" y="24871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B5E20"/>
                </a:solidFill>
                <a:latin typeface="微软雅黑"/>
                <a:ea typeface="微软雅黑"/>
              </a:rPr>
              <a:t>② 抠背景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6584" y="2816352"/>
            <a:ext cx="1097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45448"/>
                </a:solidFill>
                <a:latin typeface="微软雅黑"/>
                <a:ea typeface="微软雅黑"/>
              </a:rPr>
              <a:t>取四角主色算色差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445448"/>
                </a:solidFill>
                <a:latin typeface="微软雅黑"/>
                <a:ea typeface="微软雅黑"/>
              </a:rPr>
              <a:t>阈值判透明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9896" y="2377440"/>
            <a:ext cx="1325880" cy="129844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67911" y="24871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B5E20"/>
                </a:solidFill>
                <a:latin typeface="微软雅黑"/>
                <a:ea typeface="微软雅黑"/>
              </a:rPr>
              <a:t>③ 对齐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1" y="2816352"/>
            <a:ext cx="1097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45448"/>
                </a:solidFill>
                <a:latin typeface="微软雅黑"/>
                <a:ea typeface="微软雅黑"/>
              </a:rPr>
              <a:t>统一高度、贴底对齐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445448"/>
                </a:solidFill>
                <a:latin typeface="微软雅黑"/>
                <a:ea typeface="微软雅黑"/>
              </a:rPr>
              <a:t>换素材不跳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2377440"/>
            <a:ext cx="1325880" cy="129844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49240" y="24871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B5E20"/>
                </a:solidFill>
                <a:latin typeface="微软雅黑"/>
                <a:ea typeface="微软雅黑"/>
              </a:rPr>
              <a:t>④ 缓存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816352"/>
            <a:ext cx="1097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45448"/>
                </a:solidFill>
                <a:latin typeface="微软雅黑"/>
                <a:ea typeface="微软雅黑"/>
              </a:rPr>
              <a:t>算一次存磁盘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445448"/>
                </a:solidFill>
                <a:latin typeface="微软雅黑"/>
                <a:ea typeface="微软雅黑"/>
              </a:rPr>
              <a:t>二次启动 &lt; 100ms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5669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B5E20"/>
                </a:solidFill>
                <a:latin typeface="微软雅黑"/>
                <a:ea typeface="微软雅黑"/>
              </a:rPr>
              <a:t>然后：缺的帧自己「长」出来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5623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>
                <a:solidFill>
                  <a:srgbClr val="445448"/>
                </a:solidFill>
                <a:latin typeface="微软雅黑"/>
                <a:ea typeface="微软雅黑"/>
              </a:rPr>
              <a:t>只有 1 张 idle 静态图，但待机不能像石头。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>
                <a:solidFill>
                  <a:srgbClr val="445448"/>
                </a:solidFill>
                <a:latin typeface="微软雅黑"/>
                <a:ea typeface="微软雅黑"/>
              </a:rPr>
              <a:t>按正弦曲线做 −3% ~ +2% 的纵向缩放 + 轻微上下位移，程序化生成 6 帧呼吸动画。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1">
                <a:solidFill>
                  <a:srgbClr val="1B5E20"/>
                </a:solidFill>
                <a:latin typeface="微软雅黑"/>
                <a:ea typeface="微软雅黑"/>
              </a:rPr>
              <a:t>0 额外美术资源，换来「活的」待机。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1664208"/>
            <a:ext cx="1600200" cy="1810512"/>
          </a:xfrm>
          <a:prstGeom prst="roundRect">
            <a:avLst>
              <a:gd name="adj" fmla="val 8000"/>
            </a:avLst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pet_idle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403" y="1755648"/>
            <a:ext cx="1333312" cy="13533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37960" y="3163824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6B7A6E"/>
                </a:solidFill>
                <a:latin typeface="微软雅黑"/>
                <a:ea typeface="微软雅黑"/>
              </a:rPr>
              <a:t>待机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1664208"/>
            <a:ext cx="1600200" cy="1810512"/>
          </a:xfrm>
          <a:prstGeom prst="roundRect">
            <a:avLst>
              <a:gd name="adj" fmla="val 8000"/>
            </a:avLst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pet_eat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004" y="1755648"/>
            <a:ext cx="1242271" cy="13533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21040" y="3163824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6B7A6E"/>
                </a:solidFill>
                <a:latin typeface="微软雅黑"/>
                <a:ea typeface="微软雅黑"/>
              </a:rPr>
              <a:t>吃东西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1664208"/>
            <a:ext cx="1600200" cy="1810512"/>
          </a:xfrm>
          <a:prstGeom prst="roundRect">
            <a:avLst>
              <a:gd name="adj" fmla="val 8000"/>
            </a:avLst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pet_happy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136" y="1797184"/>
            <a:ext cx="1344168" cy="127023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104120" y="3163824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6B7A6E"/>
                </a:solidFill>
                <a:latin typeface="微软雅黑"/>
                <a:ea typeface="微软雅黑"/>
              </a:rPr>
              <a:t>开心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749039"/>
            <a:ext cx="1600200" cy="1810512"/>
          </a:xfrm>
          <a:prstGeom prst="roundRect">
            <a:avLst>
              <a:gd name="adj" fmla="val 8000"/>
            </a:avLst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pet_think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779" y="3840479"/>
            <a:ext cx="1266561" cy="13533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37960" y="5248655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6B7A6E"/>
                </a:solidFill>
                <a:latin typeface="微软雅黑"/>
                <a:ea typeface="微软雅黑"/>
              </a:rPr>
              <a:t>思考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3749039"/>
            <a:ext cx="1600200" cy="1810512"/>
          </a:xfrm>
          <a:prstGeom prst="roundRect">
            <a:avLst>
              <a:gd name="adj" fmla="val 8000"/>
            </a:avLst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pet_sleep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477" y="3840479"/>
            <a:ext cx="1151325" cy="13533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21040" y="5248655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6B7A6E"/>
                </a:solidFill>
                <a:latin typeface="微软雅黑"/>
                <a:ea typeface="微软雅黑"/>
              </a:rPr>
              <a:t>趴睡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3749039"/>
            <a:ext cx="1600200" cy="1810512"/>
          </a:xfrm>
          <a:prstGeom prst="roundRect">
            <a:avLst>
              <a:gd name="adj" fmla="val 8000"/>
            </a:avLst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pet_mood100_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3318" y="3840479"/>
            <a:ext cx="1001802" cy="135331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104120" y="5248655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6B7A6E"/>
                </a:solidFill>
                <a:latin typeface="微软雅黑"/>
                <a:ea typeface="微软雅黑"/>
              </a:rPr>
              <a:t>满心情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7607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A6E"/>
                </a:solidFill>
                <a:latin typeface="微软雅黑"/>
                <a:ea typeface="微软雅黑"/>
              </a:rPr>
              <a:t>▸ 同一套渲染器：换素材即换表情，姿势 / 朝向 / 情绪都能复用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6B7A6E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核心技术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B20"/>
                </a:solidFill>
                <a:latin typeface="微软雅黑"/>
                <a:ea typeface="微软雅黑"/>
              </a:rPr>
              <a:t>怎么让它「活着」却不「烦人」？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822960" cy="502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45448"/>
                </a:solidFill>
                <a:latin typeface="微软雅黑"/>
                <a:ea typeface="微软雅黑"/>
              </a:rPr>
              <a:t>宠物最难的不是会做多少动作，而是知道什么时候不该动。我们把「骚扰」当成 bug 来治。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965960" cy="102412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B5E20"/>
                </a:solidFill>
                <a:latin typeface="微软雅黑"/>
                <a:ea typeface="微软雅黑"/>
              </a:rPr>
              <a:t>饥饿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968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A6E"/>
                </a:solidFill>
                <a:latin typeface="微软雅黑"/>
                <a:ea typeface="微软雅黑"/>
              </a:rPr>
              <a:t>0-100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16642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45448"/>
                </a:solidFill>
                <a:latin typeface="微软雅黑"/>
                <a:ea typeface="微软雅黑"/>
              </a:rPr>
              <a:t>低于 20 会喊饿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35224" y="2148840"/>
            <a:ext cx="1965960" cy="102412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118104" y="22860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B5E20"/>
                </a:solidFill>
                <a:latin typeface="微软雅黑"/>
                <a:ea typeface="微软雅黑"/>
              </a:rPr>
              <a:t>心情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104" y="25968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A6E"/>
                </a:solidFill>
                <a:latin typeface="微软雅黑"/>
                <a:ea typeface="微软雅黑"/>
              </a:rPr>
              <a:t>0-100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4" y="2834640"/>
            <a:ext cx="16642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45448"/>
                </a:solidFill>
                <a:latin typeface="微软雅黑"/>
                <a:ea typeface="微软雅黑"/>
              </a:rPr>
              <a:t>影响表情与台词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3207" y="2148840"/>
            <a:ext cx="1965960" cy="102412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276088" y="22860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B5E20"/>
                </a:solidFill>
                <a:latin typeface="微软雅黑"/>
                <a:ea typeface="微软雅黑"/>
              </a:rPr>
              <a:t>精力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5968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A6E"/>
                </a:solidFill>
                <a:latin typeface="微软雅黑"/>
                <a:ea typeface="微软雅黑"/>
              </a:rPr>
              <a:t>0-100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834640"/>
            <a:ext cx="16642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45448"/>
                </a:solidFill>
                <a:latin typeface="微软雅黑"/>
                <a:ea typeface="微软雅黑"/>
              </a:rPr>
              <a:t>决定打盹 / 探险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51192" y="2148840"/>
            <a:ext cx="1965960" cy="102412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34071" y="22860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B5E20"/>
                </a:solidFill>
                <a:latin typeface="微软雅黑"/>
                <a:ea typeface="微软雅黑"/>
              </a:rPr>
              <a:t>亲密度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1" y="25968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A6E"/>
                </a:solidFill>
                <a:latin typeface="微软雅黑"/>
                <a:ea typeface="微软雅黑"/>
              </a:rPr>
              <a:t>0-100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1" y="2834640"/>
            <a:ext cx="16642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45448"/>
                </a:solidFill>
                <a:latin typeface="微软雅黑"/>
                <a:ea typeface="微软雅黑"/>
              </a:rPr>
              <a:t>解锁抱抱与剧情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9176" y="2148840"/>
            <a:ext cx="1965960" cy="102412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92055" y="22860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B5E20"/>
                </a:solidFill>
                <a:latin typeface="微软雅黑"/>
                <a:ea typeface="微软雅黑"/>
              </a:rPr>
              <a:t>无聊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5" y="25968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A6E"/>
                </a:solidFill>
                <a:latin typeface="微软雅黑"/>
                <a:ea typeface="微软雅黑"/>
              </a:rPr>
              <a:t>0-100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2055" y="2834640"/>
            <a:ext cx="16642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45448"/>
                </a:solidFill>
                <a:latin typeface="微软雅黑"/>
                <a:ea typeface="微软雅黑"/>
              </a:rPr>
              <a:t>高了才主动找你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4015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5E20"/>
                </a:solidFill>
                <a:latin typeface="微软雅黑"/>
                <a:ea typeface="微软雅黑"/>
              </a:rPr>
              <a:t>「不打扰」的具体参数（都是调出来的）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767328"/>
            <a:ext cx="5486400" cy="1920240"/>
          </a:xfrm>
          <a:prstGeom prst="roundRect">
            <a:avLst>
              <a:gd name="adj" fmla="val 4000"/>
            </a:avLst>
          </a:prstGeom>
          <a:solidFill>
            <a:srgbClr val="101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0120" y="3904488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50" b="0">
                <a:solidFill>
                  <a:srgbClr val="B9E0A8"/>
                </a:solidFill>
                <a:latin typeface="Consolas"/>
                <a:ea typeface="Consolas"/>
              </a:rPr>
              <a:t>TICK_MS              = 40      # 25 FPS 主循环</a:t>
            </a:r>
          </a:p>
          <a:p>
            <a:pPr>
              <a:lnSpc>
                <a:spcPct val="120000"/>
              </a:lnSpc>
            </a:pPr>
            <a:r>
              <a:rPr sz="950" b="0">
                <a:solidFill>
                  <a:srgbClr val="B9E0A8"/>
                </a:solidFill>
                <a:latin typeface="Consolas"/>
                <a:ea typeface="Consolas"/>
              </a:rPr>
              <a:t>IDLE_DECIDE_INTERVAL = (14,30) # 自主决策间隔（原 4~9s）</a:t>
            </a:r>
          </a:p>
          <a:p>
            <a:pPr>
              <a:lnSpc>
                <a:spcPct val="120000"/>
              </a:lnSpc>
            </a:pPr>
            <a:r>
              <a:rPr sz="950" b="0">
                <a:solidFill>
                  <a:srgbClr val="B9E0A8"/>
                </a:solidFill>
                <a:latin typeface="Consolas"/>
                <a:ea typeface="Consolas"/>
              </a:rPr>
              <a:t>IDLE_WALK_WEIGHT     = 1       # 散步权重（原 4）</a:t>
            </a:r>
          </a:p>
          <a:p>
            <a:pPr>
              <a:lnSpc>
                <a:spcPct val="120000"/>
              </a:lnSpc>
            </a:pPr>
            <a:r>
              <a:rPr sz="950" b="0">
                <a:solidFill>
                  <a:srgbClr val="B9E0A8"/>
                </a:solidFill>
                <a:latin typeface="Consolas"/>
                <a:ea typeface="Consolas"/>
              </a:rPr>
              <a:t>IDLE_NAP_WEIGHT      = 4       # 打盹权重（原 1）</a:t>
            </a:r>
          </a:p>
          <a:p>
            <a:pPr>
              <a:lnSpc>
                <a:spcPct val="120000"/>
              </a:lnSpc>
            </a:pPr>
            <a:r>
              <a:rPr sz="950" b="0">
                <a:solidFill>
                  <a:srgbClr val="B9E0A8"/>
                </a:solidFill>
                <a:latin typeface="Consolas"/>
                <a:ea typeface="Consolas"/>
              </a:rPr>
              <a:t>IDLE_SELFTALK_RATE   = 0.35    # 自言自语概率（原 0.65）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401568"/>
            <a:ext cx="4892040" cy="2286000"/>
          </a:xfrm>
          <a:prstGeom prst="roundRect">
            <a:avLst>
              <a:gd name="adj" fmla="val 8000"/>
            </a:avLst>
          </a:prstGeom>
          <a:solidFill>
            <a:srgbClr val="E8F2E8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66560" y="356616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5E20"/>
                </a:solidFill>
                <a:latin typeface="微软雅黑"/>
                <a:ea typeface="微软雅黑"/>
              </a:rPr>
              <a:t>权重表决定「它此刻做什么」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913632"/>
            <a:ext cx="44622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每一轮决策按权重抽一个动作：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打盹 4 / 发呆 2 / 散步 1 / 自言自语 1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结果：它会长时间安静地趴着，偶尔挪一下、看你一眼，而不是在屏幕上疯跑。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486400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2E7D32"/>
                </a:solidFill>
                <a:latin typeface="微软雅黑"/>
                <a:ea typeface="微软雅黑"/>
              </a:rPr>
              <a:t>—— 陪伴感来自「它还在」，不是「它在闹」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6B7A6E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玩法全景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B20"/>
                </a:solidFill>
                <a:latin typeface="微软雅黑"/>
                <a:ea typeface="微软雅黑"/>
              </a:rPr>
              <a:t>一只奶蛙的一天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822960" cy="502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3127248"/>
            <a:ext cx="9966960" cy="45720"/>
          </a:xfrm>
          <a:prstGeom prst="roundRect">
            <a:avLst>
              <a:gd name="adj" fmla="val 50000"/>
            </a:avLst>
          </a:prstGeom>
          <a:solidFill>
            <a:srgbClr val="D6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21284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7D32"/>
                </a:solidFill>
                <a:latin typeface="微软雅黑"/>
                <a:ea typeface="微软雅黑"/>
              </a:rPr>
              <a:t>08:00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8775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B2B20"/>
                </a:solidFill>
                <a:latin typeface="微软雅黑"/>
                <a:ea typeface="微软雅黑"/>
              </a:rPr>
              <a:t>起床</a:t>
            </a:r>
          </a:p>
        </p:txBody>
      </p:sp>
      <p:sp>
        <p:nvSpPr>
          <p:cNvPr id="9" name="Oval 8"/>
          <p:cNvSpPr/>
          <p:nvPr/>
        </p:nvSpPr>
        <p:spPr>
          <a:xfrm>
            <a:off x="1435608" y="3035808"/>
            <a:ext cx="228600" cy="228600"/>
          </a:xfrm>
          <a:prstGeom prst="ellipse">
            <a:avLst/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4290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系统状态播报：CPU / 内存 / 电量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顺手提醒你今天要做什么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21284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7CB342"/>
                </a:solidFill>
                <a:latin typeface="微软雅黑"/>
                <a:ea typeface="微软雅黑"/>
              </a:rPr>
              <a:t>12:30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58775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B2B20"/>
                </a:solidFill>
                <a:latin typeface="微软雅黑"/>
                <a:ea typeface="微软雅黑"/>
              </a:rPr>
              <a:t>摸鱼</a:t>
            </a:r>
          </a:p>
        </p:txBody>
      </p:sp>
      <p:sp>
        <p:nvSpPr>
          <p:cNvPr id="13" name="Oval 12"/>
          <p:cNvSpPr/>
          <p:nvPr/>
        </p:nvSpPr>
        <p:spPr>
          <a:xfrm>
            <a:off x="3922776" y="3035808"/>
            <a:ext cx="228600" cy="228600"/>
          </a:xfrm>
          <a:prstGeom prst="ellipse">
            <a:avLst/>
          </a:prstGeom>
          <a:solidFill>
            <a:srgbClr val="7CB34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34290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玩一局俄罗斯方块 / 扫雷 / 打砖块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每日限次，防止沉迷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21284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D96C00"/>
                </a:solidFill>
                <a:latin typeface="微软雅黑"/>
                <a:ea typeface="微软雅黑"/>
              </a:rPr>
              <a:t>18:00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58775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B2B20"/>
                </a:solidFill>
                <a:latin typeface="微软雅黑"/>
                <a:ea typeface="微软雅黑"/>
              </a:rPr>
              <a:t>出去玩</a:t>
            </a:r>
          </a:p>
        </p:txBody>
      </p:sp>
      <p:sp>
        <p:nvSpPr>
          <p:cNvPr id="17" name="Oval 16"/>
          <p:cNvSpPr/>
          <p:nvPr/>
        </p:nvSpPr>
        <p:spPr>
          <a:xfrm>
            <a:off x="6409944" y="3035808"/>
            <a:ext cx="228600" cy="228600"/>
          </a:xfrm>
          <a:prstGeom prst="ellipse">
            <a:avLst/>
          </a:prstGeom>
          <a:solidFill>
            <a:srgbClr val="D96C0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34290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短途 / 中途 / 长途 / 过夜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带回材料、稀有物品、藏宝图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221284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565C0"/>
                </a:solidFill>
                <a:latin typeface="微软雅黑"/>
                <a:ea typeface="微软雅黑"/>
              </a:rPr>
              <a:t>23:00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258775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B2B20"/>
                </a:solidFill>
                <a:latin typeface="微软雅黑"/>
                <a:ea typeface="微软雅黑"/>
              </a:rPr>
              <a:t>日记</a:t>
            </a:r>
          </a:p>
        </p:txBody>
      </p:sp>
      <p:sp>
        <p:nvSpPr>
          <p:cNvPr id="21" name="Oval 20"/>
          <p:cNvSpPr/>
          <p:nvPr/>
        </p:nvSpPr>
        <p:spPr>
          <a:xfrm>
            <a:off x="8897112" y="3035808"/>
            <a:ext cx="228600" cy="228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41664" y="34290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自动生成今天的日记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「今天你摸了我 12 次」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709160"/>
            <a:ext cx="10607040" cy="1371600"/>
          </a:xfrm>
          <a:prstGeom prst="roundRect">
            <a:avLst>
              <a:gd name="adj" fmla="val 6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4128" y="48463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5E20"/>
                </a:solidFill>
                <a:latin typeface="微软雅黑"/>
                <a:ea typeface="微软雅黑"/>
              </a:rPr>
              <a:t>除了「一天」，还有「一年」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175504"/>
            <a:ext cx="10104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四季换地面色（春樱 / 夏绿 / 秋叶 / 冬雪）· 节日彩蛋（元旦 / 情人节 / 国庆 / 圣诞）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等级 1→30 经历幼年 / 少年 / 成年三种形态 · 5 章剧情随亲密度与等级解锁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6B7A6E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玩法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B20"/>
                </a:solidFill>
                <a:latin typeface="微软雅黑"/>
                <a:ea typeface="微软雅黑"/>
              </a:rPr>
              <a:t>养成：从「喂饱」到「有羁绊」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822960" cy="502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2633472" cy="129844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1865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5E20"/>
                </a:solidFill>
                <a:latin typeface="微软雅黑"/>
                <a:ea typeface="微软雅黑"/>
              </a:rPr>
              <a:t>五维状态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3042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445448"/>
                </a:solidFill>
                <a:latin typeface="微软雅黑"/>
                <a:ea typeface="微软雅黑"/>
              </a:rPr>
              <a:t>每条都有可见反馈，低到阈值会自己开口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1737360"/>
            <a:ext cx="2633472" cy="129844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21608" y="1865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5E20"/>
                </a:solidFill>
                <a:latin typeface="微软雅黑"/>
                <a:ea typeface="微软雅黑"/>
              </a:rPr>
              <a:t>喂养靠道具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194560"/>
            <a:ext cx="23042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445448"/>
                </a:solidFill>
                <a:latin typeface="微软雅黑"/>
                <a:ea typeface="微软雅黑"/>
              </a:rPr>
              <a:t>只能用背包里的东西喂，想吃先赚金币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00400"/>
            <a:ext cx="2633472" cy="129844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332841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5E20"/>
                </a:solidFill>
                <a:latin typeface="微软雅黑"/>
                <a:ea typeface="微软雅黑"/>
              </a:rPr>
              <a:t>送礼涨羁绊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23042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445448"/>
                </a:solidFill>
                <a:latin typeface="微软雅黑"/>
                <a:ea typeface="微软雅黑"/>
              </a:rPr>
              <a:t>送对 +3~8 亲密度，送错它会「哼」一声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38728" y="3200400"/>
            <a:ext cx="2633472" cy="129844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21608" y="332841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5E20"/>
                </a:solidFill>
                <a:latin typeface="微软雅黑"/>
                <a:ea typeface="微软雅黑"/>
              </a:rPr>
              <a:t>换装小屋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3657600"/>
            <a:ext cx="23042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445448"/>
                </a:solidFill>
                <a:latin typeface="微软雅黑"/>
                <a:ea typeface="微软雅黑"/>
              </a:rPr>
              <a:t>8 件装扮 + 5 款皮肤，全部靠扭蛋获得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63440"/>
            <a:ext cx="2633472" cy="129844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4791455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5E20"/>
                </a:solidFill>
                <a:latin typeface="微软雅黑"/>
                <a:ea typeface="微软雅黑"/>
              </a:rPr>
              <a:t>天赋树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20640"/>
            <a:ext cx="23042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445448"/>
                </a:solidFill>
                <a:latin typeface="微软雅黑"/>
                <a:ea typeface="微软雅黑"/>
              </a:rPr>
              <a:t>9 个天赋分 3 支，按等级解锁，改变收益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38728" y="4663440"/>
            <a:ext cx="2633472" cy="1298448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721608" y="4791455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5E20"/>
                </a:solidFill>
                <a:latin typeface="微软雅黑"/>
                <a:ea typeface="微软雅黑"/>
              </a:rPr>
              <a:t>小窝布置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1608" y="5120640"/>
            <a:ext cx="23042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445448"/>
                </a:solidFill>
                <a:latin typeface="微软雅黑"/>
                <a:ea typeface="微软雅黑"/>
              </a:rPr>
              <a:t>3 件家具会真画在桌面（垫子/台灯/帐篷）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7556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5E20"/>
                </a:solidFill>
                <a:latin typeface="微软雅黑"/>
                <a:ea typeface="微软雅黑"/>
              </a:rPr>
              <a:t>5 款扭蛋皮肤（换装预览里展示）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121408"/>
            <a:ext cx="4846320" cy="585216"/>
          </a:xfrm>
          <a:prstGeom prst="roundRect">
            <a:avLst>
              <a:gd name="adj" fmla="val 12000"/>
            </a:avLst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skin_red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92731"/>
            <a:ext cx="502920" cy="44256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0" y="227685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B2B20"/>
                </a:solidFill>
                <a:latin typeface="微软雅黑"/>
                <a:ea typeface="微软雅黑"/>
              </a:rPr>
              <a:t>热情苹果红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61320" y="2258568"/>
            <a:ext cx="731520" cy="310896"/>
          </a:xfrm>
          <a:prstGeom prst="roundRect">
            <a:avLst>
              <a:gd name="adj" fmla="val 30000"/>
            </a:avLst>
          </a:prstGeom>
          <a:solidFill>
            <a:srgbClr val="E8F2E8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561320" y="2313432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B5E20"/>
                </a:solidFill>
                <a:latin typeface="微软雅黑"/>
                <a:ea typeface="微软雅黑"/>
              </a:rPr>
              <a:t>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2779776"/>
            <a:ext cx="4846320" cy="585216"/>
          </a:xfrm>
          <a:prstGeom prst="roundRect">
            <a:avLst>
              <a:gd name="adj" fmla="val 12000"/>
            </a:avLst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skin_pink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851099"/>
            <a:ext cx="502920" cy="44256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15200" y="293522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B2B20"/>
                </a:solidFill>
                <a:latin typeface="微软雅黑"/>
                <a:ea typeface="微软雅黑"/>
              </a:rPr>
              <a:t>樱花桃粉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61320" y="2916936"/>
            <a:ext cx="731520" cy="310896"/>
          </a:xfrm>
          <a:prstGeom prst="roundRect">
            <a:avLst>
              <a:gd name="adj" fmla="val 30000"/>
            </a:avLst>
          </a:prstGeom>
          <a:solidFill>
            <a:srgbClr val="E8F2E8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561320" y="297180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B5E20"/>
                </a:solidFill>
                <a:latin typeface="微软雅黑"/>
                <a:ea typeface="微软雅黑"/>
              </a:rPr>
              <a:t>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3438144"/>
            <a:ext cx="4846320" cy="585216"/>
          </a:xfrm>
          <a:prstGeom prst="roundRect">
            <a:avLst>
              <a:gd name="adj" fmla="val 12000"/>
            </a:avLst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skin_blue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509467"/>
            <a:ext cx="502920" cy="44256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15200" y="3593591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B2B20"/>
                </a:solidFill>
                <a:latin typeface="微软雅黑"/>
                <a:ea typeface="微软雅黑"/>
              </a:rPr>
              <a:t>晴空海豚蓝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61320" y="3575303"/>
            <a:ext cx="731520" cy="310896"/>
          </a:xfrm>
          <a:prstGeom prst="roundRect">
            <a:avLst>
              <a:gd name="adj" fmla="val 30000"/>
            </a:avLst>
          </a:prstGeom>
          <a:solidFill>
            <a:srgbClr val="E8F2E8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561320" y="3630168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B5E20"/>
                </a:solidFill>
                <a:latin typeface="微软雅黑"/>
                <a:ea typeface="微软雅黑"/>
              </a:rPr>
              <a:t>5%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4096512"/>
            <a:ext cx="4846320" cy="585216"/>
          </a:xfrm>
          <a:prstGeom prst="roundRect">
            <a:avLst>
              <a:gd name="adj" fmla="val 12000"/>
            </a:avLst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skin_purple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167835"/>
            <a:ext cx="502920" cy="44256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42519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B2B20"/>
                </a:solidFill>
                <a:latin typeface="微软雅黑"/>
                <a:ea typeface="微软雅黑"/>
              </a:rPr>
              <a:t>香芋薰衣草紫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61320" y="4233672"/>
            <a:ext cx="731520" cy="310896"/>
          </a:xfrm>
          <a:prstGeom prst="roundRect">
            <a:avLst>
              <a:gd name="adj" fmla="val 30000"/>
            </a:avLst>
          </a:prstGeom>
          <a:solidFill>
            <a:srgbClr val="E8F2E8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561320" y="428853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B5E20"/>
                </a:solidFill>
                <a:latin typeface="微软雅黑"/>
                <a:ea typeface="微软雅黑"/>
              </a:rPr>
              <a:t>5%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4754879"/>
            <a:ext cx="4846320" cy="585216"/>
          </a:xfrm>
          <a:prstGeom prst="roundRect">
            <a:avLst>
              <a:gd name="adj" fmla="val 12000"/>
            </a:avLst>
          </a:prstGeom>
          <a:solidFill>
            <a:srgbClr val="F3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skin_rainbow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826203"/>
            <a:ext cx="502920" cy="44256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315200" y="4910327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B2B20"/>
                </a:solidFill>
                <a:latin typeface="微软雅黑"/>
                <a:ea typeface="微软雅黑"/>
              </a:rPr>
              <a:t>彩虹渐变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61320" y="4892040"/>
            <a:ext cx="731520" cy="310896"/>
          </a:xfrm>
          <a:prstGeom prst="roundRect">
            <a:avLst>
              <a:gd name="adj" fmla="val 30000"/>
            </a:avLst>
          </a:prstGeom>
          <a:solidFill>
            <a:srgbClr val="E8F2E8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0561320" y="4946903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B5E20"/>
                </a:solidFill>
                <a:latin typeface="微软雅黑"/>
                <a:ea typeface="微软雅黑"/>
              </a:rPr>
              <a:t>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468112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A6E"/>
                </a:solidFill>
                <a:latin typeface="微软雅黑"/>
                <a:ea typeface="微软雅黑"/>
              </a:rPr>
              <a:t>▸ 抽到重复给 30 金币 —— 抽不到也不亏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0" y="5760720"/>
            <a:ext cx="4846320" cy="457200"/>
          </a:xfrm>
          <a:prstGeom prst="roundRect">
            <a:avLst>
              <a:gd name="adj" fmla="val 14000"/>
            </a:avLst>
          </a:prstGeom>
          <a:solidFill>
            <a:srgbClr val="E8F2E8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766560" y="58704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B5E20"/>
                </a:solidFill>
                <a:latin typeface="微软雅黑"/>
                <a:ea typeface="微软雅黑"/>
              </a:rPr>
              <a:t>其余 79% 按 60/30/10 分给装扮三档（普通/稀有/史诗）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6B7A6E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玩法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B20"/>
                </a:solidFill>
                <a:latin typeface="微软雅黑"/>
                <a:ea typeface="微软雅黑"/>
              </a:rPr>
              <a:t>探险与 7 个小游戏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822960" cy="502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B5E20"/>
                </a:solidFill>
                <a:latin typeface="微软雅黑"/>
                <a:ea typeface="微软雅黑"/>
              </a:rPr>
              <a:t>外出探险：挂机也有回报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440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445448"/>
                </a:solidFill>
                <a:latin typeface="微软雅黑"/>
                <a:ea typeface="微软雅黑"/>
              </a:rPr>
              <a:t>4 个地点（公园 / 街道 / 大公园 / 森林）× 4 档时长</a:t>
            </a:r>
          </a:p>
          <a:p>
            <a:pPr algn="l">
              <a:lnSpc>
                <a:spcPct val="160000"/>
              </a:lnSpc>
            </a:pPr>
            <a:r>
              <a:rPr sz="1150" b="0">
                <a:solidFill>
                  <a:srgbClr val="445448"/>
                </a:solidFill>
                <a:latin typeface="微软雅黑"/>
                <a:ea typeface="微软雅黑"/>
              </a:rPr>
              <a:t>（短途 30s / 中途 10min / 长途 1h / 过夜）</a:t>
            </a:r>
          </a:p>
          <a:p>
            <a:pPr algn="l">
              <a:lnSpc>
                <a:spcPct val="160000"/>
              </a:lnSpc>
            </a:pPr>
            <a:r>
              <a:rPr sz="1150" b="0">
                <a:solidFill>
                  <a:srgbClr val="445448"/>
                </a:solidFill>
                <a:latin typeface="微软雅黑"/>
                <a:ea typeface="微软雅黑"/>
              </a:rPr>
              <a:t>消耗精力，带回材料、稀有物品、藏宝图碎片；</a:t>
            </a:r>
          </a:p>
          <a:p>
            <a:pPr algn="l">
              <a:lnSpc>
                <a:spcPct val="160000"/>
              </a:lnSpc>
            </a:pPr>
            <a:r>
              <a:rPr sz="1150" b="0">
                <a:solidFill>
                  <a:srgbClr val="445448"/>
                </a:solidFill>
                <a:latin typeface="微软雅黑"/>
                <a:ea typeface="微软雅黑"/>
              </a:rPr>
              <a:t>回来后会有「旅行见闻」气泡，讲路上遇到什么。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B5E20"/>
                </a:solidFill>
                <a:latin typeface="微软雅黑"/>
                <a:ea typeface="微软雅黑"/>
              </a:rPr>
              <a:t>7 个小游戏，都和宠物状态联动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50208"/>
            <a:ext cx="1280160" cy="438912"/>
          </a:xfrm>
          <a:prstGeom prst="roundRect">
            <a:avLst>
              <a:gd name="adj" fmla="val 18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405079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B2B20"/>
                </a:solidFill>
                <a:latin typeface="微软雅黑"/>
                <a:ea typeface="微软雅黑"/>
              </a:rPr>
              <a:t>猜拳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3950208"/>
            <a:ext cx="1280160" cy="438912"/>
          </a:xfrm>
          <a:prstGeom prst="roundRect">
            <a:avLst>
              <a:gd name="adj" fmla="val 18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148840" y="405079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B2B20"/>
                </a:solidFill>
                <a:latin typeface="微软雅黑"/>
                <a:ea typeface="微软雅黑"/>
              </a:rPr>
              <a:t>接金币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3950208"/>
            <a:ext cx="1280160" cy="438912"/>
          </a:xfrm>
          <a:prstGeom prst="roundRect">
            <a:avLst>
              <a:gd name="adj" fmla="val 18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0440" y="405079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B2B20"/>
                </a:solidFill>
                <a:latin typeface="微软雅黑"/>
                <a:ea typeface="微软雅黑"/>
              </a:rPr>
              <a:t>翻牌记忆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3950208"/>
            <a:ext cx="1280160" cy="438912"/>
          </a:xfrm>
          <a:prstGeom prst="roundRect">
            <a:avLst>
              <a:gd name="adj" fmla="val 18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892040" y="405079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B2B20"/>
                </a:solidFill>
                <a:latin typeface="微软雅黑"/>
                <a:ea typeface="微软雅黑"/>
              </a:rPr>
              <a:t>打地鼠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498848"/>
            <a:ext cx="1280160" cy="438912"/>
          </a:xfrm>
          <a:prstGeom prst="roundRect">
            <a:avLst>
              <a:gd name="adj" fmla="val 18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59943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B2B20"/>
                </a:solidFill>
                <a:latin typeface="微软雅黑"/>
                <a:ea typeface="微软雅黑"/>
              </a:rPr>
              <a:t>俄罗斯方块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4498848"/>
            <a:ext cx="1280160" cy="438912"/>
          </a:xfrm>
          <a:prstGeom prst="roundRect">
            <a:avLst>
              <a:gd name="adj" fmla="val 18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148840" y="459943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B2B20"/>
                </a:solidFill>
                <a:latin typeface="微软雅黑"/>
                <a:ea typeface="微软雅黑"/>
              </a:rPr>
              <a:t>扫雷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4498848"/>
            <a:ext cx="1280160" cy="438912"/>
          </a:xfrm>
          <a:prstGeom prst="roundRect">
            <a:avLst>
              <a:gd name="adj" fmla="val 18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520440" y="459943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B2B20"/>
                </a:solidFill>
                <a:latin typeface="微软雅黑"/>
                <a:ea typeface="微软雅黑"/>
              </a:rPr>
              <a:t>打砖块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38928"/>
            <a:ext cx="5440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赢了：心情 + / 金币 + / 概率出稀有道具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445448"/>
                </a:solidFill>
                <a:latin typeface="微软雅黑"/>
                <a:ea typeface="微软雅黑"/>
              </a:rPr>
              <a:t>输了呢？奶蛙会鼓励你，而不是嘲讽你。</a:t>
            </a:r>
          </a:p>
        </p:txBody>
      </p:sp>
      <p:pic>
        <p:nvPicPr>
          <p:cNvPr id="24" name="Picture 23" descr="18_mini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504909"/>
            <a:ext cx="5029200" cy="12995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46520" y="4709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A6E"/>
                </a:solidFill>
                <a:latin typeface="微软雅黑"/>
                <a:ea typeface="微软雅黑"/>
              </a:rPr>
              <a:t>▸ 游戏直接画在宠物窗口的 Canvas 里，不额外开窗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5074920"/>
            <a:ext cx="5029200" cy="566928"/>
          </a:xfrm>
          <a:prstGeom prst="roundRect">
            <a:avLst>
              <a:gd name="adj" fmla="val 14000"/>
            </a:avLst>
          </a:prstGeom>
          <a:solidFill>
            <a:srgbClr val="E8F2E8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29400" y="521208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B5E20"/>
                </a:solidFill>
                <a:latin typeface="微软雅黑"/>
                <a:ea typeface="微软雅黑"/>
              </a:rPr>
              <a:t>每个游戏 3 次 / 天 —— 这是「宠物」，不是「游戏机」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6B7A6E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806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6B7A6E"/>
                </a:solidFill>
                <a:latin typeface="微软雅黑"/>
                <a:ea typeface="微软雅黑"/>
              </a:rPr>
              <a:t>▸ 探险回来会带回材料与稀有物品，藏宝图碎片可拼成完整地图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玩法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B20"/>
                </a:solidFill>
                <a:latin typeface="微软雅黑"/>
                <a:ea typeface="微软雅黑"/>
              </a:rPr>
              <a:t>AI 对话：它真的记得你说过什么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822960" cy="502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257800" cy="1170432"/>
          </a:xfrm>
          <a:prstGeom prst="roundRect">
            <a:avLst>
              <a:gd name="adj" fmla="val 8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87552" y="184708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B5E20"/>
                </a:solidFill>
                <a:latin typeface="微软雅黑"/>
                <a:ea typeface="微软雅黑"/>
              </a:rPr>
              <a:t>接入方式：OpenAI 兼容协议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千问 qwen-plus（阿里云百炼）/ DeepSeek / Kimi / 智谱 / 本地 Ollama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没有 Key 也能玩 —— 自动退回本地规则对话。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B5E20"/>
                </a:solidFill>
                <a:latin typeface="微软雅黑"/>
                <a:ea typeface="微软雅黑"/>
              </a:rPr>
              <a:t>记忆库：这才是「羁绊」的技术实现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75303"/>
            <a:ext cx="82296" cy="822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3493008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1B2B20"/>
                </a:solidFill>
                <a:latin typeface="微软雅黑"/>
                <a:ea typeface="微软雅黑"/>
              </a:rPr>
              <a:t>抽取　</a:t>
            </a: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每轮对话后把「我叫 XX」「我生日是 3 月 8 日」抽成结构化记忆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336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4151376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1B2B20"/>
                </a:solidFill>
                <a:latin typeface="微软雅黑"/>
                <a:ea typeface="微软雅黑"/>
              </a:rPr>
              <a:t>持久　</a:t>
            </a: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写进存档，跨天 / 跨设备都在（就是换电脑拷的那个 json）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92040"/>
            <a:ext cx="82296" cy="822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4809744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1B2B20"/>
                </a:solidFill>
                <a:latin typeface="微软雅黑"/>
                <a:ea typeface="微软雅黑"/>
              </a:rPr>
              <a:t>注入　</a:t>
            </a: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下次对话前拼进 system prompt，于是它会主动说「快到你生日了」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550408"/>
            <a:ext cx="82296" cy="822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5468112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1B2B20"/>
                </a:solidFill>
                <a:latin typeface="微软雅黑"/>
                <a:ea typeface="微软雅黑"/>
              </a:rPr>
              <a:t>兜底　</a:t>
            </a:r>
            <a:r>
              <a:rPr sz="1050" b="0">
                <a:solidFill>
                  <a:srgbClr val="445448"/>
                </a:solidFill>
                <a:latin typeface="微软雅黑"/>
                <a:ea typeface="微软雅黑"/>
              </a:rPr>
              <a:t>Key 失效 / 断网时，本地规则也能回答生日、名字、喜好</a:t>
            </a:r>
          </a:p>
        </p:txBody>
      </p:sp>
      <p:pic>
        <p:nvPicPr>
          <p:cNvPr id="18" name="Picture 17" descr="cha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726" y="1737360"/>
            <a:ext cx="2183906" cy="27432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098280" y="1737360"/>
            <a:ext cx="2377440" cy="2743200"/>
          </a:xfrm>
          <a:prstGeom prst="roundRect">
            <a:avLst>
              <a:gd name="adj" fmla="val 8000"/>
            </a:avLst>
          </a:prstGeom>
          <a:solidFill>
            <a:srgbClr val="E8F2E8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81160" y="1874519"/>
            <a:ext cx="2057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B5E20"/>
                </a:solidFill>
                <a:latin typeface="微软雅黑"/>
                <a:ea typeface="微软雅黑"/>
              </a:rPr>
              <a:t>「你今天话好像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B5E20"/>
                </a:solidFill>
                <a:latin typeface="微软雅黑"/>
                <a:ea typeface="微软雅黑"/>
              </a:rPr>
              <a:t>有点少。要不要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B5E20"/>
                </a:solidFill>
                <a:latin typeface="微软雅黑"/>
                <a:ea typeface="微软雅黑"/>
              </a:rPr>
              <a:t>先喝杯水？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B5E20"/>
                </a:solidFill>
                <a:latin typeface="微软雅黑"/>
                <a:ea typeface="微软雅黑"/>
              </a:rPr>
              <a:t>我陪你坐一会儿。」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B5E20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B5E20"/>
                </a:solidFill>
                <a:latin typeface="微软雅黑"/>
                <a:ea typeface="微软雅黑"/>
              </a:rPr>
              <a:t>—— 你 emo 时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B5E20"/>
                </a:solidFill>
                <a:latin typeface="微软雅黑"/>
                <a:ea typeface="微软雅黑"/>
              </a:rPr>
              <a:t>它会切成这种语气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17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A6E"/>
                </a:solidFill>
                <a:latin typeface="微软雅黑"/>
                <a:ea typeface="微软雅黑"/>
              </a:rPr>
              <a:t>▸ 气泡里放对话，蛙会摆出「说话」的表情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983480"/>
            <a:ext cx="5029200" cy="713232"/>
          </a:xfrm>
          <a:prstGeom prst="roundRect">
            <a:avLst>
              <a:gd name="adj" fmla="val 10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629400" y="510235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情绪镜像：识别「累 / emo / 加班 / 失眠」等关键词，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自动切语气 + 换表情（14 个负面词 / 12 个正面词）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6B7A6E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CB342"/>
                </a:solidFill>
                <a:latin typeface="微软雅黑"/>
                <a:ea typeface="微软雅黑"/>
              </a:rPr>
              <a:t>内容体量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这些数字都是真跑出来的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822960" cy="50292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5648"/>
            <a:ext cx="2560320" cy="1133856"/>
          </a:xfrm>
          <a:prstGeom prst="roundRect">
            <a:avLst>
              <a:gd name="adj" fmla="val 10000"/>
            </a:avLst>
          </a:prstGeom>
          <a:solidFill>
            <a:srgbClr val="183322"/>
          </a:solidFill>
          <a:ln w="12700">
            <a:solidFill>
              <a:srgbClr val="2C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96695" y="190195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7CB342"/>
                </a:solidFill>
                <a:latin typeface="微软雅黑"/>
                <a:ea typeface="微软雅黑"/>
              </a:rPr>
              <a:t>13,199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48716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FB8A4"/>
                </a:solidFill>
                <a:latin typeface="微软雅黑"/>
                <a:ea typeface="微软雅黑"/>
              </a:rPr>
              <a:t>行 · 单文件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755648"/>
            <a:ext cx="2560320" cy="1133856"/>
          </a:xfrm>
          <a:prstGeom prst="roundRect">
            <a:avLst>
              <a:gd name="adj" fmla="val 10000"/>
            </a:avLst>
          </a:prstGeom>
          <a:solidFill>
            <a:srgbClr val="183322"/>
          </a:solidFill>
          <a:ln w="12700">
            <a:solidFill>
              <a:srgbClr val="2C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39896" y="190195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7CB342"/>
                </a:solidFill>
                <a:latin typeface="微软雅黑"/>
                <a:ea typeface="微软雅黑"/>
              </a:rPr>
              <a:t>596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9896" y="248716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FB8A4"/>
                </a:solidFill>
                <a:latin typeface="微软雅黑"/>
                <a:ea typeface="微软雅黑"/>
              </a:rPr>
              <a:t>KB · 无需依赖包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55648"/>
            <a:ext cx="2560320" cy="1133856"/>
          </a:xfrm>
          <a:prstGeom prst="roundRect">
            <a:avLst>
              <a:gd name="adj" fmla="val 10000"/>
            </a:avLst>
          </a:prstGeom>
          <a:solidFill>
            <a:srgbClr val="183322"/>
          </a:solidFill>
          <a:ln w="12700">
            <a:solidFill>
              <a:srgbClr val="2C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83096" y="190195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7CB342"/>
                </a:solidFill>
                <a:latin typeface="微软雅黑"/>
                <a:ea typeface="微软雅黑"/>
              </a:rPr>
              <a:t>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48716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FB8A4"/>
                </a:solidFill>
                <a:latin typeface="微软雅黑"/>
                <a:ea typeface="微软雅黑"/>
              </a:rPr>
              <a:t>项右键交互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755648"/>
            <a:ext cx="2560320" cy="1133856"/>
          </a:xfrm>
          <a:prstGeom prst="roundRect">
            <a:avLst>
              <a:gd name="adj" fmla="val 10000"/>
            </a:avLst>
          </a:prstGeom>
          <a:solidFill>
            <a:srgbClr val="183322"/>
          </a:solidFill>
          <a:ln w="12700">
            <a:solidFill>
              <a:srgbClr val="2C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26296" y="190195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7CB342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6" y="248716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FB8A4"/>
                </a:solidFill>
                <a:latin typeface="微软雅黑"/>
                <a:ea typeface="微软雅黑"/>
              </a:rPr>
              <a:t>个小游戏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54096"/>
            <a:ext cx="2560320" cy="1133856"/>
          </a:xfrm>
          <a:prstGeom prst="roundRect">
            <a:avLst>
              <a:gd name="adj" fmla="val 10000"/>
            </a:avLst>
          </a:prstGeom>
          <a:solidFill>
            <a:srgbClr val="183322"/>
          </a:solidFill>
          <a:ln w="12700">
            <a:solidFill>
              <a:srgbClr val="2C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96695" y="32004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7CB342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3785615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FB8A4"/>
                </a:solidFill>
                <a:latin typeface="微软雅黑"/>
                <a:ea typeface="微软雅黑"/>
              </a:rPr>
              <a:t>个成就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054096"/>
            <a:ext cx="2560320" cy="1133856"/>
          </a:xfrm>
          <a:prstGeom prst="roundRect">
            <a:avLst>
              <a:gd name="adj" fmla="val 10000"/>
            </a:avLst>
          </a:prstGeom>
          <a:solidFill>
            <a:srgbClr val="183322"/>
          </a:solidFill>
          <a:ln w="12700">
            <a:solidFill>
              <a:srgbClr val="2C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739896" y="32004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7CB342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9896" y="3785615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FB8A4"/>
                </a:solidFill>
                <a:latin typeface="微软雅黑"/>
                <a:ea typeface="微软雅黑"/>
              </a:rPr>
              <a:t>章剧情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054096"/>
            <a:ext cx="2560320" cy="1133856"/>
          </a:xfrm>
          <a:prstGeom prst="roundRect">
            <a:avLst>
              <a:gd name="adj" fmla="val 10000"/>
            </a:avLst>
          </a:prstGeom>
          <a:solidFill>
            <a:srgbClr val="183322"/>
          </a:solidFill>
          <a:ln w="12700">
            <a:solidFill>
              <a:srgbClr val="2C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83096" y="32004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7CB342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785615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FB8A4"/>
                </a:solidFill>
                <a:latin typeface="微软雅黑"/>
                <a:ea typeface="微软雅黑"/>
              </a:rPr>
              <a:t>个天赋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3054096"/>
            <a:ext cx="2560320" cy="1133856"/>
          </a:xfrm>
          <a:prstGeom prst="roundRect">
            <a:avLst>
              <a:gd name="adj" fmla="val 10000"/>
            </a:avLst>
          </a:prstGeom>
          <a:solidFill>
            <a:srgbClr val="183322"/>
          </a:solidFill>
          <a:ln w="12700">
            <a:solidFill>
              <a:srgbClr val="2C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226296" y="32004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7CB342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3785615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FB8A4"/>
                </a:solidFill>
                <a:latin typeface="微软雅黑"/>
                <a:ea typeface="微软雅黑"/>
              </a:rPr>
              <a:t>件装扮 + 5 皮肤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352544"/>
            <a:ext cx="2560320" cy="1133856"/>
          </a:xfrm>
          <a:prstGeom prst="roundRect">
            <a:avLst>
              <a:gd name="adj" fmla="val 10000"/>
            </a:avLst>
          </a:prstGeom>
          <a:solidFill>
            <a:srgbClr val="183322"/>
          </a:solidFill>
          <a:ln w="12700">
            <a:solidFill>
              <a:srgbClr val="2C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96695" y="44988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7CB342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5" y="5084064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FB8A4"/>
                </a:solidFill>
                <a:latin typeface="微软雅黑"/>
                <a:ea typeface="微软雅黑"/>
              </a:rPr>
              <a:t>个探险地点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4352544"/>
            <a:ext cx="2560320" cy="1133856"/>
          </a:xfrm>
          <a:prstGeom prst="roundRect">
            <a:avLst>
              <a:gd name="adj" fmla="val 10000"/>
            </a:avLst>
          </a:prstGeom>
          <a:solidFill>
            <a:srgbClr val="183322"/>
          </a:solidFill>
          <a:ln w="12700">
            <a:solidFill>
              <a:srgbClr val="2C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739896" y="44988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7CB342"/>
                </a:solidFill>
                <a:latin typeface="微软雅黑"/>
                <a:ea typeface="微软雅黑"/>
              </a:rPr>
              <a:t>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9896" y="5084064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FB8A4"/>
                </a:solidFill>
                <a:latin typeface="微软雅黑"/>
                <a:ea typeface="微软雅黑"/>
              </a:rPr>
              <a:t>种道具 / 材料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352544"/>
            <a:ext cx="2560320" cy="1133856"/>
          </a:xfrm>
          <a:prstGeom prst="roundRect">
            <a:avLst>
              <a:gd name="adj" fmla="val 10000"/>
            </a:avLst>
          </a:prstGeom>
          <a:solidFill>
            <a:srgbClr val="183322"/>
          </a:solidFill>
          <a:ln w="12700">
            <a:solidFill>
              <a:srgbClr val="2C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83096" y="44988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7CB342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3096" y="5084064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FB8A4"/>
                </a:solidFill>
                <a:latin typeface="微软雅黑"/>
                <a:ea typeface="微软雅黑"/>
              </a:rPr>
              <a:t>项每日任务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40" y="4352544"/>
            <a:ext cx="2560320" cy="1133856"/>
          </a:xfrm>
          <a:prstGeom prst="roundRect">
            <a:avLst>
              <a:gd name="adj" fmla="val 10000"/>
            </a:avLst>
          </a:prstGeom>
          <a:solidFill>
            <a:srgbClr val="183322"/>
          </a:solidFill>
          <a:ln w="12700">
            <a:solidFill>
              <a:srgbClr val="2C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44988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7CB342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5084064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FB8A4"/>
                </a:solidFill>
                <a:latin typeface="微软雅黑"/>
                <a:ea typeface="微软雅黑"/>
              </a:rPr>
              <a:t>季节 + 4 节日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B8D4BA"/>
                </a:solidFill>
                <a:latin typeface="微软雅黑"/>
                <a:ea typeface="微软雅黑"/>
              </a:rPr>
              <a:t>全部内容手写：没有素材包、没有游戏引擎、没有现成 UI 组件。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9FB8A4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工程质量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B20"/>
                </a:solidFill>
                <a:latin typeface="微软雅黑"/>
                <a:ea typeface="微软雅黑"/>
              </a:rPr>
              <a:t>养成一个习惯：让崩溃「可被追溯」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822960" cy="502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120640" cy="1645920"/>
          </a:xfrm>
          <a:prstGeom prst="roundRect">
            <a:avLst>
              <a:gd name="adj" fmla="val 8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120640" cy="7315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93852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E7D32"/>
                </a:solidFill>
                <a:latin typeface="微软雅黑"/>
                <a:ea typeface="微软雅黑"/>
              </a:rPr>
              <a:t>黑匣子日志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304288"/>
            <a:ext cx="46268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关键路径全写 logs/desktop_pet.log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带 [FATAL] / [TICK-ERROR] / [MENU] 标签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崩溃前的一举一动都能回放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737360"/>
            <a:ext cx="5120640" cy="1645920"/>
          </a:xfrm>
          <a:prstGeom prst="roundRect">
            <a:avLst>
              <a:gd name="adj" fmla="val 8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126479" y="1737360"/>
            <a:ext cx="5120640" cy="73152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3852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7CB342"/>
                </a:solidFill>
                <a:latin typeface="微软雅黑"/>
                <a:ea typeface="微软雅黑"/>
              </a:rPr>
              <a:t>18 阶段自检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04288"/>
            <a:ext cx="46268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selftest_features.py 一条命令跑完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素材 / 状态机 / 养成 / 探险 / UI / 游戏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改任何东西先跑它，全绿才提交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11879"/>
            <a:ext cx="5120640" cy="1645920"/>
          </a:xfrm>
          <a:prstGeom prst="roundRect">
            <a:avLst>
              <a:gd name="adj" fmla="val 8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77240" y="3611879"/>
            <a:ext cx="5120640" cy="73152"/>
          </a:xfrm>
          <a:prstGeom prst="roundRect">
            <a:avLst>
              <a:gd name="adj" fmla="val 50000"/>
            </a:avLst>
          </a:prstGeom>
          <a:solidFill>
            <a:srgbClr val="D9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81304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D96C00"/>
                </a:solidFill>
                <a:latin typeface="微软雅黑"/>
                <a:ea typeface="微软雅黑"/>
              </a:rPr>
              <a:t>原子存档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4178807"/>
            <a:ext cx="46268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先写 .tmp 再 os.replace 替换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断电也不会写出半个 json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旧存档缺字段自动补默认值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3611879"/>
            <a:ext cx="5120640" cy="1645920"/>
          </a:xfrm>
          <a:prstGeom prst="roundRect">
            <a:avLst>
              <a:gd name="adj" fmla="val 8000"/>
            </a:avLst>
          </a:prstGeom>
          <a:solidFill>
            <a:srgbClr val="F3F8F3"/>
          </a:solidFill>
          <a:ln w="12700">
            <a:solidFill>
              <a:srgbClr val="D6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126479" y="3611879"/>
            <a:ext cx="5120640" cy="73152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81304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565C0"/>
                </a:solidFill>
                <a:latin typeface="微软雅黑"/>
                <a:ea typeface="微软雅黑"/>
              </a:rPr>
              <a:t>行为回归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178807"/>
            <a:ext cx="46268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待机频率、扭蛋概率、奖励数值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写成脚本跑统计（1000 次抽样验概率）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改数值不改手感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32120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101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5669280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9ED68E"/>
                </a:solidFill>
                <a:latin typeface="Consolas"/>
                <a:ea typeface="Consolas"/>
              </a:rPr>
              <a:t>$ python selftest_features.py        # 18 阶段全绿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9ED68E"/>
                </a:solidFill>
                <a:latin typeface="Consolas"/>
                <a:ea typeface="Consolas"/>
              </a:rPr>
              <a:t>结论：全部通过 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6B7A6E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B20"/>
                </a:solidFill>
                <a:latin typeface="微软雅黑"/>
                <a:ea typeface="微软雅黑"/>
              </a:rPr>
              <a:t>别人拿到怎么用？「一键安装」踩过的坑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822960" cy="502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B5E20"/>
                </a:solidFill>
                <a:latin typeface="微软雅黑"/>
                <a:ea typeface="微软雅黑"/>
              </a:rPr>
              <a:t>最终形态：解压 → 双击一个 bat → 开始玩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66543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2B20"/>
                </a:solidFill>
                <a:latin typeface="微软雅黑"/>
                <a:ea typeface="微软雅黑"/>
              </a:rPr>
              <a:t>解压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95727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整包 44 MB，自带全部素材与离线依赖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01752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80944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2B20"/>
                </a:solidFill>
                <a:latin typeface="微软雅黑"/>
                <a:ea typeface="微软雅黑"/>
              </a:rPr>
              <a:t>双击 一键安装.bat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10127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自动装依赖 + 自检 + 启动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93192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95344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B2B20"/>
                </a:solidFill>
                <a:latin typeface="微软雅黑"/>
                <a:ea typeface="微软雅黑"/>
              </a:rPr>
              <a:t>以后双击 启动奶蛙.bat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日常启动，两秒进入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96C00"/>
                </a:solidFill>
                <a:latin typeface="微软雅黑"/>
                <a:ea typeface="微软雅黑"/>
              </a:rPr>
              <a:t>三个真实踩过的坑（也是我们的加分项）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30368"/>
            <a:ext cx="5577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① 目标机没网 → 把 Pillow wheel 打进包，--no-index 离线安装</a:t>
            </a:r>
          </a:p>
          <a:p>
            <a:pPr algn="l">
              <a:lnSpc>
                <a:spcPct val="16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② 目标机装了多个 Python → 安装器扫描全部，挑能用的那个启动</a:t>
            </a:r>
          </a:p>
          <a:p>
            <a:pPr algn="l">
              <a:lnSpc>
                <a:spcPct val="160000"/>
              </a:lnSpc>
            </a:pPr>
            <a:r>
              <a:rPr sz="1000" b="0">
                <a:solidFill>
                  <a:srgbClr val="445448"/>
                </a:solidFill>
                <a:latin typeface="微软雅黑"/>
                <a:ea typeface="微软雅黑"/>
              </a:rPr>
              <a:t>③ 用户把批处理改名了 → 逻辑收进一个 py，bat 只做转发</a:t>
            </a:r>
          </a:p>
        </p:txBody>
      </p:sp>
      <p:pic>
        <p:nvPicPr>
          <p:cNvPr id="18" name="Picture 17" descr="16_wid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25980"/>
            <a:ext cx="4937760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60" y="39502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A6E"/>
                </a:solidFill>
                <a:latin typeface="微软雅黑"/>
                <a:ea typeface="微软雅黑"/>
              </a:rPr>
              <a:t>▸ 桌面挂件：时钟 / 天气 / 网速，单行不占地方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315968"/>
            <a:ext cx="4937760" cy="1600200"/>
          </a:xfrm>
          <a:prstGeom prst="roundRect">
            <a:avLst>
              <a:gd name="adj" fmla="val 8000"/>
            </a:avLst>
          </a:prstGeom>
          <a:solidFill>
            <a:srgbClr val="E8F2E8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20840" y="4443984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1B5E20"/>
                </a:solidFill>
                <a:latin typeface="微软雅黑"/>
                <a:ea typeface="微软雅黑"/>
              </a:rPr>
              <a:t>零依赖的坚持：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B5E20"/>
                </a:solidFill>
                <a:latin typeface="微软雅黑"/>
                <a:ea typeface="微软雅黑"/>
              </a:rPr>
              <a:t>· GUI 只用 tkinter（标准库）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B5E20"/>
                </a:solidFill>
                <a:latin typeface="微软雅黑"/>
                <a:ea typeface="微软雅黑"/>
              </a:rPr>
              <a:t>· 图像只用 Pillow（唯一第三方）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B5E20"/>
                </a:solidFill>
                <a:latin typeface="微软雅黑"/>
                <a:ea typeface="微软雅黑"/>
              </a:rPr>
              <a:t>· 天气走公开 HTTP 接口，不引入 SDK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B5E20"/>
                </a:solidFill>
                <a:latin typeface="微软雅黑"/>
                <a:ea typeface="微软雅黑"/>
              </a:rPr>
              <a:t>→ 换台电脑，装个 Python 就能跑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6B7A6E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840480"/>
            <a:ext cx="5120640" cy="5120640"/>
          </a:xfrm>
          <a:prstGeom prst="ellipse">
            <a:avLst/>
          </a:prstGeom>
          <a:solidFill>
            <a:srgbClr val="1C4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645920"/>
            <a:ext cx="4572000" cy="4572000"/>
          </a:xfrm>
          <a:prstGeom prst="ellipse">
            <a:avLst/>
          </a:prstGeom>
          <a:solidFill>
            <a:srgbClr val="173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t_happy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041398"/>
            <a:ext cx="2743200" cy="2592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32588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7CB342"/>
                </a:solidFill>
                <a:latin typeface="微软雅黑"/>
                <a:ea typeface="微软雅黑"/>
              </a:rPr>
              <a:t>接下来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现场演示 5 分钟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87168"/>
            <a:ext cx="1097280" cy="50292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16352"/>
            <a:ext cx="7589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5000"/>
              </a:lnSpc>
              <a:spcAft>
                <a:spcPts val="0"/>
              </a:spcAft>
            </a:pPr>
            <a:r>
              <a:rPr sz="1250" b="0">
                <a:solidFill>
                  <a:srgbClr val="C8DECA"/>
                </a:solidFill>
                <a:latin typeface="微软雅黑"/>
                <a:ea typeface="微软雅黑"/>
              </a:rPr>
              <a:t>01　摸摸它 / 拖到屏幕角落 / 右键菜单 37 项</a:t>
            </a:r>
          </a:p>
          <a:p>
            <a:pPr algn="l">
              <a:lnSpc>
                <a:spcPct val="195000"/>
              </a:lnSpc>
              <a:spcAft>
                <a:spcPts val="0"/>
              </a:spcAft>
            </a:pPr>
            <a:r>
              <a:rPr sz="1250" b="0">
                <a:solidFill>
                  <a:srgbClr val="C8DECA"/>
                </a:solidFill>
                <a:latin typeface="微软雅黑"/>
                <a:ea typeface="微软雅黑"/>
              </a:rPr>
              <a:t>02　玩一局打砖块，看它给奖励和表情</a:t>
            </a:r>
          </a:p>
          <a:p>
            <a:pPr algn="l">
              <a:lnSpc>
                <a:spcPct val="195000"/>
              </a:lnSpc>
              <a:spcAft>
                <a:spcPts val="0"/>
              </a:spcAft>
            </a:pPr>
            <a:r>
              <a:rPr sz="1250" b="0">
                <a:solidFill>
                  <a:srgbClr val="C8DECA"/>
                </a:solidFill>
                <a:latin typeface="微软雅黑"/>
                <a:ea typeface="微软雅黑"/>
              </a:rPr>
              <a:t>03　问它「我叫什么」「我生日是哪天」</a:t>
            </a:r>
          </a:p>
          <a:p>
            <a:pPr algn="l">
              <a:lnSpc>
                <a:spcPct val="195000"/>
              </a:lnSpc>
              <a:spcAft>
                <a:spcPts val="0"/>
              </a:spcAft>
            </a:pPr>
            <a:r>
              <a:rPr sz="1250" b="0">
                <a:solidFill>
                  <a:srgbClr val="C8DECA"/>
                </a:solidFill>
                <a:latin typeface="微软雅黑"/>
                <a:ea typeface="微软雅黑"/>
              </a:rPr>
              <a:t>04　打开日记，看它怎么记录今天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074920"/>
            <a:ext cx="7680960" cy="841248"/>
          </a:xfrm>
          <a:prstGeom prst="roundRect">
            <a:avLst>
              <a:gd name="adj" fmla="val 8000"/>
            </a:avLst>
          </a:prstGeom>
          <a:solidFill>
            <a:srgbClr val="183322"/>
          </a:solidFill>
          <a:ln w="12700">
            <a:solidFill>
              <a:srgbClr val="2C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8992" y="5230368"/>
            <a:ext cx="7269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7CB342"/>
                </a:solidFill>
                <a:latin typeface="微软雅黑"/>
                <a:ea typeface="微软雅黑"/>
              </a:rPr>
              <a:t>下一步：</a:t>
            </a:r>
            <a:r>
              <a:rPr sz="1200" b="0">
                <a:solidFill>
                  <a:srgbClr val="C8DECA"/>
                </a:solidFill>
                <a:latin typeface="微软雅黑"/>
                <a:ea typeface="微软雅黑"/>
              </a:rPr>
              <a:t>语音陪伴（TTS）· 多宠物互访 · 跨设备云同步 · 开放插件协议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14476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8FB294"/>
                </a:solidFill>
                <a:latin typeface="微软雅黑"/>
                <a:ea typeface="微软雅黑"/>
              </a:rPr>
              <a:t>谢谢　·　这只蛙还活着，欢迎来戳它一下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9FB8A4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